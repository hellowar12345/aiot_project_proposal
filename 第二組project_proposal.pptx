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93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391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.springer.com/chapter/10.1007/978-981-15-7062-9_59" TargetMode="External"/><Relationship Id="rId3" Type="http://schemas.openxmlformats.org/officeDocument/2006/relationships/hyperlink" Target="https://doi.org/10.1109/ACCESS.2018.2864157" TargetMode="External"/><Relationship Id="rId7" Type="http://schemas.openxmlformats.org/officeDocument/2006/relationships/hyperlink" Target="https://doi.org/10.1007/978-981-15-7062-9_59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dpi.com/1424-8220/20/1/322" TargetMode="External"/><Relationship Id="rId5" Type="http://schemas.openxmlformats.org/officeDocument/2006/relationships/hyperlink" Target="https://doi.org/10.3390/s20010322" TargetMode="External"/><Relationship Id="rId4" Type="http://schemas.openxmlformats.org/officeDocument/2006/relationships/hyperlink" Target="https://ieeexplore.ieee.org/document/8430514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1.06758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dpi.com/2220-9964/13/5/151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2636565"/>
            <a:ext cx="156972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AIOT 智慧系統設計 · 第二組期中計畫提案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24000" y="3403327"/>
            <a:ext cx="15697200" cy="1889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750" b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智慧停車位 </a:t>
            </a:r>
            <a:r>
              <a:rPr lang="en-US" sz="6750" b="1" kern="0" spc="-67" dirty="0">
                <a:solidFill>
                  <a:srgbClr val="2563EB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預測系統</a:t>
            </a:r>
            <a:endParaRPr lang="en-US" sz="6750" dirty="0"/>
          </a:p>
        </p:txBody>
      </p:sp>
      <p:sp>
        <p:nvSpPr>
          <p:cNvPr id="4" name="Text 2"/>
          <p:cNvSpPr/>
          <p:nvPr/>
        </p:nvSpPr>
        <p:spPr>
          <a:xfrm>
            <a:off x="1524000" y="5445398"/>
            <a:ext cx="156972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5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基於政府開放資料之即時與歷史多特徵停車位預測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24000" y="6750323"/>
            <a:ext cx="571500" cy="285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7236098"/>
            <a:ext cx="9334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第二組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2838450" y="7271817"/>
            <a:ext cx="9525" cy="3429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305175" y="7264673"/>
            <a:ext cx="752001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4112053103 朱奕諾 · 4112056016 李亦騰 · 4112065022 李欣員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2613645"/>
            <a:ext cx="121920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目錄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524000" y="3406080"/>
            <a:ext cx="15697200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524000" y="4361557"/>
            <a:ext cx="4825975" cy="3406973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57388" y="4833045"/>
            <a:ext cx="407797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DD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957388" y="5899845"/>
            <a:ext cx="407797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957388" y="6504682"/>
            <a:ext cx="4077976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研究動機、現有挑戰、提出方案、主要貢獻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730975" y="4361557"/>
            <a:ext cx="4825975" cy="3406973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64363" y="4833045"/>
            <a:ext cx="407797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DD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7164363" y="5899845"/>
            <a:ext cx="407797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164363" y="6504682"/>
            <a:ext cx="4077976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五篇文獻回顧與 Article Summary Table 比較分析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937950" y="4361557"/>
            <a:ext cx="4825975" cy="3406973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71338" y="4833045"/>
            <a:ext cx="407797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DD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2371338" y="5899845"/>
            <a:ext cx="407797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Design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371338" y="6504682"/>
            <a:ext cx="4077976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系統架構規格書、資料流與元件互動關係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7800" y="3007519"/>
            <a:ext cx="3217926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0" b="1" kern="0" spc="-600" dirty="0">
                <a:solidFill>
                  <a:srgbClr val="FFFFFF">
                    <a:alpha val="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524000" y="5103019"/>
            <a:ext cx="31394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524000" y="5603081"/>
            <a:ext cx="3139440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研究動機 與貢獻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986713" y="4381500"/>
            <a:ext cx="28575" cy="1524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4414838"/>
            <a:ext cx="549402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2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依循 A → F 架構，從題目動機出發，說明挑戰、提出方案，並點明本研究的核心貢獻與評估方式。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1B2B3A"/>
          </a:solidFill>
          <a:ln/>
        </p:spPr>
      </p:sp>
      <p:sp>
        <p:nvSpPr>
          <p:cNvPr id="3" name="Text 1"/>
          <p:cNvSpPr/>
          <p:nvPr/>
        </p:nvSpPr>
        <p:spPr>
          <a:xfrm>
            <a:off x="1485900" y="7620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09800" y="850106"/>
            <a:ext cx="334270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Getter · 研究動機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24000" y="1504950"/>
            <a:ext cx="8829675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停車難題的規模，比你想像的更大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524000" y="2297385"/>
            <a:ext cx="15697200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— Urban Parking at Scale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524000" y="3176662"/>
            <a:ext cx="3609975" cy="2757488"/>
          </a:xfrm>
          <a:prstGeom prst="roundRect">
            <a:avLst>
              <a:gd name="adj" fmla="val 5527"/>
            </a:avLst>
          </a:prstGeom>
          <a:solidFill>
            <a:srgbClr val="F7F6F2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8511" y="3571949"/>
            <a:ext cx="306095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</a:t>
            </a:r>
            <a:r>
              <a:rPr lang="en-US" sz="3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萬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798511" y="4372049"/>
            <a:ext cx="306095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輛 · 台灣汽車登記數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798511" y="4853062"/>
            <a:ext cx="306095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2023年交通部統計 年增約 2.3%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00675" y="3176662"/>
            <a:ext cx="3609975" cy="2757488"/>
          </a:xfrm>
          <a:prstGeom prst="roundRect">
            <a:avLst>
              <a:gd name="adj" fmla="val 5527"/>
            </a:avLst>
          </a:prstGeom>
          <a:solidFill>
            <a:srgbClr val="F7F6F2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75186" y="3571949"/>
            <a:ext cx="306095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8–12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5675186" y="4372049"/>
            <a:ext cx="306095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分鐘 · 平均尋車時間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675186" y="4853062"/>
            <a:ext cx="306095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六都市中心區域 每次停車前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77350" y="3176662"/>
            <a:ext cx="3609975" cy="2757488"/>
          </a:xfrm>
          <a:prstGeom prst="roundRect">
            <a:avLst>
              <a:gd name="adj" fmla="val 5527"/>
            </a:avLst>
          </a:prstGeom>
          <a:solidFill>
            <a:srgbClr val="F7F6F2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51861" y="3571949"/>
            <a:ext cx="306095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r>
              <a:rPr lang="en-US" sz="3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9551861" y="4372049"/>
            <a:ext cx="306095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市區交通為尋車造成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551861" y="4853062"/>
            <a:ext cx="306095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INRIX 2023 Global Traffic Scorecard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154025" y="3176662"/>
            <a:ext cx="3609975" cy="2757488"/>
          </a:xfrm>
          <a:prstGeom prst="roundRect">
            <a:avLst>
              <a:gd name="adj" fmla="val 5527"/>
            </a:avLst>
          </a:prstGeom>
          <a:solidFill>
            <a:srgbClr val="F7F6F2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28536" y="3571949"/>
            <a:ext cx="306095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r>
              <a:rPr lang="en-US" sz="3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13428536" y="4372049"/>
            <a:ext cx="306095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停車場 · TDX 開放資料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428536" y="4853062"/>
            <a:ext cx="306095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政府即時 API 尚待有效整合利用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24000" y="6429449"/>
            <a:ext cx="15240000" cy="150495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524000" y="6429449"/>
            <a:ext cx="47625" cy="150495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1914525" y="6696149"/>
            <a:ext cx="1496377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dirty="0">
                <a:solidFill>
                  <a:srgbClr val="1B2B3A"/>
                </a:solidFill>
                <a:highlight>
                  <a:srgbClr val="EBF3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✦ 停車位預測不只是便民服務，更能有效降低城市碳排放、提升交通系統效率—— </a:t>
            </a:r>
            <a:r>
              <a:rPr lang="en-US" sz="22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兼具有趣性 (Interesting)、重要性 (Important) 與創新性 (Innovation) </a:t>
            </a:r>
            <a:r>
              <a:rPr lang="en-US" sz="2250" dirty="0">
                <a:solidFill>
                  <a:srgbClr val="1B2B3A"/>
                </a:solidFill>
                <a:highlight>
                  <a:srgbClr val="EBF3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1B2B3A"/>
          </a:solidFill>
          <a:ln/>
        </p:spPr>
      </p:sp>
      <p:sp>
        <p:nvSpPr>
          <p:cNvPr id="3" name="Text 1"/>
          <p:cNvSpPr/>
          <p:nvPr/>
        </p:nvSpPr>
        <p:spPr>
          <a:xfrm>
            <a:off x="1485900" y="7620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09800" y="850106"/>
            <a:ext cx="447201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/ Examples · 現有挑戰與痛點實例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24000" y="1504950"/>
            <a:ext cx="941832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即時資料充足，但預測能力嚴重不足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524000" y="2297385"/>
            <a:ext cx="15697200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— Data Without Intelligence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524000" y="3024262"/>
            <a:ext cx="7391400" cy="7194054"/>
          </a:xfrm>
          <a:prstGeom prst="roundRect">
            <a:avLst>
              <a:gd name="adj" fmla="val 2648"/>
            </a:avLst>
          </a:prstGeom>
          <a:solidFill>
            <a:srgbClr val="F7F6F2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57388" y="3521943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B2B3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163" y="3626718"/>
            <a:ext cx="209550" cy="2095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09838" y="3495749"/>
            <a:ext cx="2668524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現有系統三大缺口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1957388" y="4395862"/>
            <a:ext cx="95250" cy="952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2205038" y="4272037"/>
            <a:ext cx="6465284" cy="888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即時顯示，無法預測： </a:t>
            </a: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現有 App 只呈現當下剩餘車位，無法預估 30–60 分鐘後的狀況。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1957388" y="5455965"/>
            <a:ext cx="95250" cy="952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2205038" y="5332140"/>
            <a:ext cx="6465284" cy="888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歷史規律未被挖掘： </a:t>
            </a: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政府開放歷史資料豐富，卻缺乏模型系統性地學習時序規律。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957388" y="6516067"/>
            <a:ext cx="95250" cy="952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2205038" y="6392242"/>
            <a:ext cx="6465284" cy="888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外部特徵未被整合： </a:t>
            </a: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天氣、節假日、周邊 POI 等關鍵影響因子被忽略。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9372600" y="3024262"/>
            <a:ext cx="7391400" cy="7194054"/>
          </a:xfrm>
          <a:prstGeom prst="roundRect">
            <a:avLst>
              <a:gd name="adj" fmla="val 2648"/>
            </a:avLst>
          </a:prstGeom>
          <a:solidFill>
            <a:srgbClr val="F7F6F2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805988" y="3521943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B2B3A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0763" y="3626718"/>
            <a:ext cx="209550" cy="2095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358438" y="3495749"/>
            <a:ext cx="2019300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具體痛點場景</a:t>
            </a:r>
            <a:endParaRPr lang="en-US" sz="2550" dirty="0"/>
          </a:p>
        </p:txBody>
      </p:sp>
      <p:sp>
        <p:nvSpPr>
          <p:cNvPr id="21" name="Shape 17"/>
          <p:cNvSpPr/>
          <p:nvPr/>
        </p:nvSpPr>
        <p:spPr>
          <a:xfrm>
            <a:off x="9805988" y="4272037"/>
            <a:ext cx="6524625" cy="1653480"/>
          </a:xfrm>
          <a:prstGeom prst="roundRect">
            <a:avLst>
              <a:gd name="adj" fmla="val 691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082213" y="4510162"/>
            <a:ext cx="61513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場景 C-1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0082213" y="4919737"/>
            <a:ext cx="6151340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假日台北 101 商圈：停車場顯示「車位已滿」，但鄰近公有停車場仍有空位，駕駛人毫不知情、繼續繞行。</a:t>
            </a:r>
            <a:endParaRPr lang="en-US" sz="1950" dirty="0"/>
          </a:p>
        </p:txBody>
      </p:sp>
      <p:sp>
        <p:nvSpPr>
          <p:cNvPr id="24" name="Shape 20"/>
          <p:cNvSpPr/>
          <p:nvPr/>
        </p:nvSpPr>
        <p:spPr>
          <a:xfrm>
            <a:off x="9805988" y="6096967"/>
            <a:ext cx="6524625" cy="1653480"/>
          </a:xfrm>
          <a:prstGeom prst="roundRect">
            <a:avLst>
              <a:gd name="adj" fmla="val 691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0082213" y="6335092"/>
            <a:ext cx="61513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場景 C-2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10082213" y="6744667"/>
            <a:ext cx="6151340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雨天醫院停車場：平日使用率 60%，雨天驟升至 90%，但系統無任何提前預警機制，導致大量壅塞。</a:t>
            </a:r>
            <a:endParaRPr lang="en-US" sz="1950" dirty="0"/>
          </a:p>
        </p:txBody>
      </p:sp>
      <p:sp>
        <p:nvSpPr>
          <p:cNvPr id="27" name="Shape 23"/>
          <p:cNvSpPr/>
          <p:nvPr/>
        </p:nvSpPr>
        <p:spPr>
          <a:xfrm>
            <a:off x="9805988" y="7921898"/>
            <a:ext cx="6524625" cy="1653480"/>
          </a:xfrm>
          <a:prstGeom prst="roundRect">
            <a:avLst>
              <a:gd name="adj" fmla="val 691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082213" y="8160023"/>
            <a:ext cx="61513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場景 C-3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10082213" y="8569598"/>
            <a:ext cx="6151340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連續假期前夕：歷史上每逢連假，同一停車場尖峰提前 2 小時出現，現有系統完全未能預測。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1B2B3A"/>
          </a:solidFill>
          <a:ln/>
        </p:spPr>
      </p:sp>
      <p:sp>
        <p:nvSpPr>
          <p:cNvPr id="3" name="Text 1"/>
          <p:cNvSpPr/>
          <p:nvPr/>
        </p:nvSpPr>
        <p:spPr>
          <a:xfrm>
            <a:off x="1485900" y="7620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09800" y="850106"/>
            <a:ext cx="243237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· 提出方案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24000" y="1504950"/>
            <a:ext cx="12361545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我們提出一套資料驅動的多特徵停車位預測框架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524000" y="2297385"/>
            <a:ext cx="15697200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Scheme — Data-Driven Multi-Feature Prediction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524000" y="3024262"/>
            <a:ext cx="7975603" cy="1649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 TDX 政府開放平台的</a:t>
            </a:r>
            <a:r>
              <a:rPr lang="en-US" sz="24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即時停車 API </a:t>
            </a: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與歷史資料，輔以天氣、節假日等外部特徵，透過 </a:t>
            </a:r>
            <a:r>
              <a:rPr lang="en-US" sz="24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深度學習模型 </a:t>
            </a: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預測未來 30/60 分鐘停車位可用率。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524000" y="5016847"/>
            <a:ext cx="7743304" cy="766763"/>
          </a:xfrm>
          <a:prstGeom prst="roundRect">
            <a:avLst>
              <a:gd name="adj" fmla="val 14907"/>
            </a:avLst>
          </a:prstGeom>
          <a:solidFill>
            <a:srgbClr val="F7F6F2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04988" y="5233541"/>
            <a:ext cx="13144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33738" y="5221635"/>
            <a:ext cx="525120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TDX 即時 API + 歷史時序資料 + 天氣 + 節假日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524000" y="5974110"/>
            <a:ext cx="7743304" cy="766763"/>
          </a:xfrm>
          <a:prstGeom prst="roundRect">
            <a:avLst>
              <a:gd name="adj" fmla="val 14907"/>
            </a:avLst>
          </a:prstGeom>
          <a:solidFill>
            <a:srgbClr val="F7F6F2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04988" y="6190804"/>
            <a:ext cx="13144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33738" y="6178897"/>
            <a:ext cx="592515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DD-LSTM（Data-Driven Long Short-Term Memory）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524000" y="6931372"/>
            <a:ext cx="7743304" cy="766763"/>
          </a:xfrm>
          <a:prstGeom prst="roundRect">
            <a:avLst>
              <a:gd name="adj" fmla="val 14907"/>
            </a:avLst>
          </a:prstGeom>
          <a:solidFill>
            <a:srgbClr val="F7F6F2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04988" y="7148066"/>
            <a:ext cx="13144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33738" y="7136160"/>
            <a:ext cx="471973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未來 30 / 60 分鐘停車位可用率預測（%）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524000" y="7888635"/>
            <a:ext cx="7743304" cy="766763"/>
          </a:xfrm>
          <a:prstGeom prst="roundRect">
            <a:avLst>
              <a:gd name="adj" fmla="val 14907"/>
            </a:avLst>
          </a:prstGeom>
          <a:solidFill>
            <a:srgbClr val="F7F6F2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04988" y="8105329"/>
            <a:ext cx="13144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33738" y="8093422"/>
            <a:ext cx="510159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公有路外停車場（以台北市為主要驗證場域）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724504" y="3024262"/>
            <a:ext cx="7039496" cy="4081463"/>
          </a:xfrm>
          <a:prstGeom prst="roundRect">
            <a:avLst>
              <a:gd name="adj" fmla="val 5601"/>
            </a:avLst>
          </a:prstGeom>
          <a:solidFill>
            <a:srgbClr val="1B2B3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89828" y="3557662"/>
            <a:ext cx="6308849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900" b="1" kern="0" spc="7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DD-LSTM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10089828" y="4391099"/>
            <a:ext cx="6308849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Long Short-Term Memory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365730" y="5448374"/>
            <a:ext cx="1314450" cy="504825"/>
          </a:xfrm>
          <a:prstGeom prst="roundRect">
            <a:avLst>
              <a:gd name="adj" fmla="val 50000"/>
            </a:avLst>
          </a:prstGeom>
          <a:solidFill>
            <a:srgbClr val="2563EB">
              <a:alpha val="25000"/>
            </a:srgbClr>
          </a:solidFill>
          <a:ln w="9525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27655" y="5534099"/>
            <a:ext cx="9906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時序建模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794480" y="5448374"/>
            <a:ext cx="1543050" cy="504825"/>
          </a:xfrm>
          <a:prstGeom prst="roundRect">
            <a:avLst>
              <a:gd name="adj" fmla="val 50000"/>
            </a:avLst>
          </a:prstGeom>
          <a:solidFill>
            <a:srgbClr val="2563EB">
              <a:alpha val="25000"/>
            </a:srgbClr>
          </a:solidFill>
          <a:ln w="9525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956405" y="5534099"/>
            <a:ext cx="1219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多特徵融合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451830" y="5448374"/>
            <a:ext cx="1242120" cy="504825"/>
          </a:xfrm>
          <a:prstGeom prst="roundRect">
            <a:avLst>
              <a:gd name="adj" fmla="val 50000"/>
            </a:avLst>
          </a:prstGeom>
          <a:solidFill>
            <a:srgbClr val="2563EB">
              <a:alpha val="25000"/>
            </a:srgbClr>
          </a:solidFill>
          <a:ln w="9525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613755" y="5534099"/>
            <a:ext cx="9182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TDX API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4808250" y="5448374"/>
            <a:ext cx="1314450" cy="504825"/>
          </a:xfrm>
          <a:prstGeom prst="roundRect">
            <a:avLst>
              <a:gd name="adj" fmla="val 50000"/>
            </a:avLst>
          </a:prstGeom>
          <a:solidFill>
            <a:srgbClr val="2563EB">
              <a:alpha val="25000"/>
            </a:srgbClr>
          </a:solidFill>
          <a:ln w="9525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970175" y="5534099"/>
            <a:ext cx="9906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即時預測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358390" y="6067499"/>
            <a:ext cx="1771650" cy="504825"/>
          </a:xfrm>
          <a:prstGeom prst="roundRect">
            <a:avLst>
              <a:gd name="adj" fmla="val 50000"/>
            </a:avLst>
          </a:prstGeom>
          <a:solidFill>
            <a:srgbClr val="2563EB">
              <a:alpha val="25000"/>
            </a:srgbClr>
          </a:solidFill>
          <a:ln w="9525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520315" y="6153224"/>
            <a:ext cx="1447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政府開放資料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485900" y="7620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E·F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09800" y="850106"/>
            <a:ext cx="529473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 Findings · 評估方法與主要貢獻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24000" y="1600200"/>
            <a:ext cx="1569720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驗證方法與本研究的核心貢獻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524000" y="2583135"/>
            <a:ext cx="7391400" cy="5361384"/>
          </a:xfrm>
          <a:prstGeom prst="roundRect">
            <a:avLst>
              <a:gd name="adj" fmla="val 3553"/>
            </a:avLst>
          </a:prstGeom>
          <a:solidFill>
            <a:srgbClr val="F7F6F2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57388" y="3016523"/>
            <a:ext cx="6720364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— 評估方式 Evaluation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957388" y="3792810"/>
            <a:ext cx="952500" cy="4095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090738" y="3830910"/>
            <a:ext cx="7620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062288" y="3754710"/>
            <a:ext cx="5582317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TDX 台北市公有停車場即時與歷史資料（2023–2024）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957388" y="4731916"/>
            <a:ext cx="1224335" cy="4095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2090738" y="4770016"/>
            <a:ext cx="103383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4122" y="4693816"/>
            <a:ext cx="5302327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對比 ARIMA、Random Forest、單層 LSTM 三種基準方法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957388" y="5671021"/>
            <a:ext cx="723900" cy="4095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2090738" y="5709121"/>
            <a:ext cx="5334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33688" y="5632921"/>
            <a:ext cx="581777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MAE（平均絕對誤差）、RMSE（均方根誤差）、Accuracy（預測準確率）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957388" y="6610127"/>
            <a:ext cx="723900" cy="4095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2090738" y="6648227"/>
            <a:ext cx="5334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場景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833688" y="6572027"/>
            <a:ext cx="581777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平日 vs. 假日、晴天 vs. 雨天、高峰 vs. 離峰時段交叉驗證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372600" y="2583135"/>
            <a:ext cx="7391400" cy="5361384"/>
          </a:xfrm>
          <a:prstGeom prst="roundRect">
            <a:avLst>
              <a:gd name="adj" fmla="val 3553"/>
            </a:avLst>
          </a:prstGeom>
          <a:solidFill>
            <a:srgbClr val="F7F6F2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05988" y="3016523"/>
            <a:ext cx="6720364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— 主要貢獻 Key Contributions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9805988" y="3754710"/>
            <a:ext cx="5524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0472738" y="3754710"/>
            <a:ext cx="504310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首次整合 TDX 即時 API 至停車位預測管線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472738" y="4154760"/>
            <a:ext cx="50431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實現端對端自動化資料擷取與預測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805988" y="4697685"/>
            <a:ext cx="5524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10472738" y="4697685"/>
            <a:ext cx="55050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提出多特徵融合框架（天氣 + 節假日 + 歷史）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472738" y="5097735"/>
            <a:ext cx="550505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顯著改善複雜場景下的預測精準度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05988" y="5640660"/>
            <a:ext cx="5524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10472738" y="5640660"/>
            <a:ext cx="439521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建構可擴充的政府開放資料應用架構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472738" y="6040710"/>
            <a:ext cx="439521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可延伸至全台其他縣市停車場域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7800" y="3007519"/>
            <a:ext cx="4002786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0" b="1" kern="0" spc="-600" dirty="0">
                <a:solidFill>
                  <a:srgbClr val="FFFFFF">
                    <a:alpha val="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524000" y="5103019"/>
            <a:ext cx="3924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524000" y="5603081"/>
            <a:ext cx="3924300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文獻回顧 與比較分析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367712" y="4381500"/>
            <a:ext cx="28575" cy="1524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4171950"/>
            <a:ext cx="5494020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2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從傳統統計方法到最新深度學習，回顧五篇代表性研究的技術 Know-How、優點與不足，最後以 Article Summary Table 完整呈現差異。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666750"/>
            <a:ext cx="5432626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相關文獻回顧 ①②③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524000" y="1459185"/>
            <a:ext cx="15697200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 — From Open Data to Deep Learning Approaches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524000" y="2147962"/>
            <a:ext cx="4902175" cy="6386513"/>
          </a:xfrm>
          <a:prstGeom prst="roundRect">
            <a:avLst>
              <a:gd name="adj" fmla="val 3109"/>
            </a:avLst>
          </a:prstGeom>
          <a:solidFill>
            <a:srgbClr val="F7F6F2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43088" y="2505149"/>
            <a:ext cx="43919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文獻 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43088" y="2933774"/>
            <a:ext cx="439192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開放資料 + 傳統 ML</a:t>
            </a:r>
            <a:endParaRPr lang="en-US" sz="2250" dirty="0"/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1843088" y="3405262"/>
            <a:ext cx="43919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u="sng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Badii et al., IEEE Access, 2018 ↗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43088" y="3929137"/>
            <a:ext cx="4264000" cy="9525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9" name="Text 7"/>
          <p:cNvSpPr/>
          <p:nvPr/>
        </p:nvSpPr>
        <p:spPr>
          <a:xfrm>
            <a:off x="1843088" y="4129162"/>
            <a:ext cx="43919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技術方法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43088" y="4500637"/>
            <a:ext cx="439192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整合多種開放資料（交通、天氣、行事曆）搭配傳統機器學習方法預測停車場可用車位數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43088" y="5634112"/>
            <a:ext cx="43919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優點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43088" y="6005587"/>
            <a:ext cx="43919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率先使用開放資料；涵蓋多種特徵；可解釋性高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43088" y="6786637"/>
            <a:ext cx="43919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缺點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43088" y="7158112"/>
            <a:ext cx="43919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非深度學習，無法捕捉長期時序依賴；未使用即時 API 整合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92875" y="2147962"/>
            <a:ext cx="4902175" cy="6386513"/>
          </a:xfrm>
          <a:prstGeom prst="roundRect">
            <a:avLst>
              <a:gd name="adj" fmla="val 3109"/>
            </a:avLst>
          </a:prstGeom>
          <a:solidFill>
            <a:srgbClr val="F7F6F2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11963" y="2505149"/>
            <a:ext cx="43919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文獻 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11963" y="2933774"/>
            <a:ext cx="439192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模型比較分析</a:t>
            </a:r>
            <a:endParaRPr lang="en-US" sz="2250" dirty="0"/>
          </a:p>
        </p:txBody>
      </p:sp>
      <p:sp>
        <p:nvSpPr>
          <p:cNvPr id="18" name="Text 16">
            <a:hlinkClick r:id="rId5"/>
          </p:cNvPr>
          <p:cNvSpPr/>
          <p:nvPr/>
        </p:nvSpPr>
        <p:spPr>
          <a:xfrm>
            <a:off x="7011963" y="3405262"/>
            <a:ext cx="43919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u="sng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Awan et al., Sensors, 2020 ↗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011963" y="3929137"/>
            <a:ext cx="4264000" cy="9525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20" name="Text 18"/>
          <p:cNvSpPr/>
          <p:nvPr/>
        </p:nvSpPr>
        <p:spPr>
          <a:xfrm>
            <a:off x="7011963" y="4129162"/>
            <a:ext cx="43919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技術方法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11963" y="4500637"/>
            <a:ext cx="439192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比較 MLP、KNN、Decision Tree、Random Forest、Voting Classifier 在 Santander 停車資料集上的表現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11963" y="5634112"/>
            <a:ext cx="43919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優點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11963" y="6005587"/>
            <a:ext cx="43919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系統性 ML 比較；Random Forest 達 86.5% 準確率；具特徵重要性分析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11963" y="6786637"/>
            <a:ext cx="43919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缺點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11963" y="7158112"/>
            <a:ext cx="43919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無法捕捉時序依賴性；缺乏天氣、節假日等外部特徵整合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861750" y="2147962"/>
            <a:ext cx="4902250" cy="6386513"/>
          </a:xfrm>
          <a:prstGeom prst="roundRect">
            <a:avLst>
              <a:gd name="adj" fmla="val 3109"/>
            </a:avLst>
          </a:prstGeom>
          <a:solidFill>
            <a:srgbClr val="F7F6F2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180838" y="2505149"/>
            <a:ext cx="439199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文獻 ③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180838" y="2933774"/>
            <a:ext cx="439199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深度學習</a:t>
            </a:r>
            <a:endParaRPr lang="en-US" sz="2250" dirty="0"/>
          </a:p>
        </p:txBody>
      </p:sp>
      <p:sp>
        <p:nvSpPr>
          <p:cNvPr id="29" name="Text 27">
            <a:hlinkClick r:id="rId7"/>
          </p:cNvPr>
          <p:cNvSpPr/>
          <p:nvPr/>
        </p:nvSpPr>
        <p:spPr>
          <a:xfrm>
            <a:off x="12180838" y="3405262"/>
            <a:ext cx="439199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u="sng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Mishra &amp; Deshpande, Springer ICTIS, 2021 ↗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180838" y="4262512"/>
            <a:ext cx="4264075" cy="9525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31" name="Text 29"/>
          <p:cNvSpPr/>
          <p:nvPr/>
        </p:nvSpPr>
        <p:spPr>
          <a:xfrm>
            <a:off x="12180838" y="4462537"/>
            <a:ext cx="439199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技術方法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180838" y="4834012"/>
            <a:ext cx="4391997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LSTM 對停車場歷史時序資料進行端對端訓練，考量平日、假日、尖峰時段等場景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180838" y="5967487"/>
            <a:ext cx="439199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優點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180838" y="6338962"/>
            <a:ext cx="439199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善於捕捉長期時序依賴；在時序預測上優於傳統方法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180838" y="7120012"/>
            <a:ext cx="439199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缺點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180838" y="7491487"/>
            <a:ext cx="439199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僅單一場館；未整合即時 API；缺少天氣等外部特徵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666750"/>
            <a:ext cx="4843981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相關文獻回顧 ④⑤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524000" y="1459185"/>
            <a:ext cx="15697200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 — Spatial-Temporal and Attention-Based Approaches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524000" y="2147962"/>
            <a:ext cx="7448550" cy="6224588"/>
          </a:xfrm>
          <a:prstGeom prst="roundRect">
            <a:avLst>
              <a:gd name="adj" fmla="val 2448"/>
            </a:avLst>
          </a:prstGeom>
          <a:solidFill>
            <a:srgbClr val="F7F6F2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19288" y="2581349"/>
            <a:ext cx="68577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文獻 ④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19288" y="3009974"/>
            <a:ext cx="685771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GCNN + LSTM 空間時序</a:t>
            </a:r>
            <a:endParaRPr lang="en-US" sz="2250" dirty="0"/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1919288" y="3481462"/>
            <a:ext cx="68577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u="sng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Yang et al., arXiv:1901.06758, 2019 ↗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19288" y="4005337"/>
            <a:ext cx="6657975" cy="9525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9" name="Text 7"/>
          <p:cNvSpPr/>
          <p:nvPr/>
        </p:nvSpPr>
        <p:spPr>
          <a:xfrm>
            <a:off x="1919288" y="4205362"/>
            <a:ext cx="68577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技術方法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19288" y="4576837"/>
            <a:ext cx="6857714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圖卷積神經網路（GCNN）建模停車場空間鄰近關係，結合 LSTM 捕捉時序特徵，並融合停車計費、車速、天氣等多源資料。以匹茲堡市中心為案例驗證，30 分鐘預測 MAPE 達 10.6%。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19288" y="5729362"/>
            <a:ext cx="68577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優點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19288" y="6100837"/>
            <a:ext cx="685771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同時建模空間與時序關係；融合多異質資料源；預測準確率顯著提升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19288" y="6881887"/>
            <a:ext cx="68577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缺點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19288" y="7253362"/>
            <a:ext cx="685771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模型複雜度高、訓練成本大；未整合政府開放 API；難以輕量化部署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315450" y="2147962"/>
            <a:ext cx="7448550" cy="6224588"/>
          </a:xfrm>
          <a:prstGeom prst="roundRect">
            <a:avLst>
              <a:gd name="adj" fmla="val 2448"/>
            </a:avLst>
          </a:prstGeom>
          <a:solidFill>
            <a:srgbClr val="F7F6F2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10738" y="2581349"/>
            <a:ext cx="68577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文獻 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10738" y="3009974"/>
            <a:ext cx="685771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MAT-LSTM 注意力機制</a:t>
            </a:r>
            <a:endParaRPr lang="en-US" sz="2250" dirty="0"/>
          </a:p>
        </p:txBody>
      </p:sp>
      <p:sp>
        <p:nvSpPr>
          <p:cNvPr id="18" name="Text 16">
            <a:hlinkClick r:id="rId4"/>
          </p:cNvPr>
          <p:cNvSpPr/>
          <p:nvPr/>
        </p:nvSpPr>
        <p:spPr>
          <a:xfrm>
            <a:off x="9710738" y="3481462"/>
            <a:ext cx="68577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u="sng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MDPI IJGI, 2024 ↗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710738" y="4005337"/>
            <a:ext cx="6657975" cy="9525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20" name="Text 18"/>
          <p:cNvSpPr/>
          <p:nvPr/>
        </p:nvSpPr>
        <p:spPr>
          <a:xfrm>
            <a:off x="9710738" y="4205362"/>
            <a:ext cx="68577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技術方法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10738" y="4576837"/>
            <a:ext cx="6857714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LSTM 中加入 Multi-head Attention（MAT）機制，提取長時間序列內部依賴關係，在真實與合成資料集上均優於 TCN 與標準 LSTM，準確率提升最高達 48%。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10738" y="5729362"/>
            <a:ext cx="68577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優點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710738" y="6100837"/>
            <a:ext cx="68577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注意力機制強化長序列特徵擷取；在多資料集上均達最高準確率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710738" y="6538987"/>
            <a:ext cx="68577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缺點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710738" y="6910462"/>
            <a:ext cx="68577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未使用即時 API；推論延遲較高；未整合節假日等外部特徵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24000" y="8715449"/>
            <a:ext cx="15240000" cy="1486793"/>
          </a:xfrm>
          <a:prstGeom prst="roundRect">
            <a:avLst>
              <a:gd name="adj" fmla="val 10250"/>
            </a:avLst>
          </a:prstGeom>
          <a:solidFill>
            <a:srgbClr val="EBF3FF"/>
          </a:solidFill>
          <a:ln/>
        </p:spPr>
      </p:sp>
      <p:sp>
        <p:nvSpPr>
          <p:cNvPr id="27" name="Text 25"/>
          <p:cNvSpPr/>
          <p:nvPr/>
        </p:nvSpPr>
        <p:spPr>
          <a:xfrm>
            <a:off x="1905000" y="9230246"/>
            <a:ext cx="54701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2680618" y="9020249"/>
            <a:ext cx="14113454" cy="915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現有方法各有所長，但</a:t>
            </a:r>
            <a:r>
              <a:rPr lang="en-US" sz="21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沒有任何一篇 </a:t>
            </a:r>
            <a:r>
              <a:rPr lang="en-US" sz="21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同時做到：整合政府即時 API + 多外部特徵（天氣、節假日）+ 輕量化即時部署——這正是本研究的創新切入點。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71475"/>
            <a:ext cx="5868361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9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Summary Table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952500" y="1069032"/>
            <a:ext cx="16874490" cy="33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方法比較總覽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672530"/>
            <a:ext cx="16383000" cy="933450"/>
          </a:xfrm>
          <a:prstGeom prst="rect">
            <a:avLst/>
          </a:prstGeom>
          <a:solidFill>
            <a:srgbClr val="1B2B3A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1805880"/>
            <a:ext cx="16764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 / 論文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971800" y="1805880"/>
            <a:ext cx="199407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 API 整合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194474" y="1805880"/>
            <a:ext cx="11965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歷史 時序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19652" y="1805880"/>
            <a:ext cx="11965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天氣 特徵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4830" y="1805880"/>
            <a:ext cx="16241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節假日 特徵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97591" y="1805880"/>
            <a:ext cx="11965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空間 建模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322769" y="1805880"/>
            <a:ext cx="21926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43980" y="1805880"/>
            <a:ext cx="205174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政府開放 資料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24324" y="1805880"/>
            <a:ext cx="119687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輕量 部署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04900" y="2720280"/>
            <a:ext cx="16764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開放資料 ML </a:t>
            </a: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Badii 2018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71800" y="2720280"/>
            <a:ext cx="199407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194474" y="2720280"/>
            <a:ext cx="11965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619652" y="2720280"/>
            <a:ext cx="11965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044830" y="2720280"/>
            <a:ext cx="16241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897591" y="2720280"/>
            <a:ext cx="11965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322769" y="2720280"/>
            <a:ext cx="21926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3743980" y="2720280"/>
            <a:ext cx="205174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6024324" y="2720280"/>
            <a:ext cx="119687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52500" y="3501330"/>
            <a:ext cx="16383000" cy="89535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4" name="Text 22"/>
          <p:cNvSpPr/>
          <p:nvPr/>
        </p:nvSpPr>
        <p:spPr>
          <a:xfrm>
            <a:off x="1104900" y="3615630"/>
            <a:ext cx="16764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ML 比較分析 </a:t>
            </a: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Awan 2020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971800" y="3615630"/>
            <a:ext cx="199407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5194474" y="3615630"/>
            <a:ext cx="11965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619652" y="3615630"/>
            <a:ext cx="11965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8044830" y="3615630"/>
            <a:ext cx="16241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897591" y="3615630"/>
            <a:ext cx="11965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1322769" y="3615630"/>
            <a:ext cx="21926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3743980" y="3615630"/>
            <a:ext cx="205174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6024324" y="3615630"/>
            <a:ext cx="119687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104900" y="4510980"/>
            <a:ext cx="16764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LSTM </a:t>
            </a: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Mishra 2021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971800" y="4510980"/>
            <a:ext cx="199407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5194474" y="4510980"/>
            <a:ext cx="11965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6619652" y="4510980"/>
            <a:ext cx="11965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8044830" y="4510980"/>
            <a:ext cx="16241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9897591" y="4510980"/>
            <a:ext cx="11965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1322769" y="4510980"/>
            <a:ext cx="21926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3743980" y="4510980"/>
            <a:ext cx="205174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6024324" y="4510980"/>
            <a:ext cx="119687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952500" y="5292030"/>
            <a:ext cx="16383000" cy="1228725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43" name="Text 41"/>
          <p:cNvSpPr/>
          <p:nvPr/>
        </p:nvSpPr>
        <p:spPr>
          <a:xfrm>
            <a:off x="1104900" y="5406330"/>
            <a:ext cx="167640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GCNN + LSTM </a:t>
            </a: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Yang 2019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971800" y="5406330"/>
            <a:ext cx="1994074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5194474" y="5406330"/>
            <a:ext cx="1196578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619652" y="5406330"/>
            <a:ext cx="1196578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8044830" y="5406330"/>
            <a:ext cx="16241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9897591" y="5406330"/>
            <a:ext cx="1196578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11322769" y="5406330"/>
            <a:ext cx="219261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13743980" y="5406330"/>
            <a:ext cx="205174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16024324" y="5406330"/>
            <a:ext cx="119687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1104900" y="6635055"/>
            <a:ext cx="16764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MAT-LSTM </a:t>
            </a: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MDPI 2024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2971800" y="6635055"/>
            <a:ext cx="199407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5194474" y="6635055"/>
            <a:ext cx="11965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6619652" y="6635055"/>
            <a:ext cx="11965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8044830" y="6635055"/>
            <a:ext cx="16241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57" name="Text 55"/>
          <p:cNvSpPr/>
          <p:nvPr/>
        </p:nvSpPr>
        <p:spPr>
          <a:xfrm>
            <a:off x="9897591" y="6635055"/>
            <a:ext cx="11965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58" name="Text 56"/>
          <p:cNvSpPr/>
          <p:nvPr/>
        </p:nvSpPr>
        <p:spPr>
          <a:xfrm>
            <a:off x="11322769" y="6635055"/>
            <a:ext cx="21926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59" name="Text 57"/>
          <p:cNvSpPr/>
          <p:nvPr/>
        </p:nvSpPr>
        <p:spPr>
          <a:xfrm>
            <a:off x="13743980" y="6635055"/>
            <a:ext cx="205174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60" name="Text 58"/>
          <p:cNvSpPr/>
          <p:nvPr/>
        </p:nvSpPr>
        <p:spPr>
          <a:xfrm>
            <a:off x="16024324" y="6635055"/>
            <a:ext cx="119687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50" dirty="0"/>
          </a:p>
        </p:txBody>
      </p:sp>
      <p:sp>
        <p:nvSpPr>
          <p:cNvPr id="61" name="Shape 59"/>
          <p:cNvSpPr/>
          <p:nvPr/>
        </p:nvSpPr>
        <p:spPr>
          <a:xfrm>
            <a:off x="952500" y="7416105"/>
            <a:ext cx="16383000" cy="1228725"/>
          </a:xfrm>
          <a:prstGeom prst="rect">
            <a:avLst/>
          </a:prstGeom>
          <a:solidFill>
            <a:srgbClr val="1B2B3A"/>
          </a:solidFill>
          <a:ln/>
        </p:spPr>
      </p:sp>
      <p:sp>
        <p:nvSpPr>
          <p:cNvPr id="62" name="Text 60"/>
          <p:cNvSpPr/>
          <p:nvPr/>
        </p:nvSpPr>
        <p:spPr>
          <a:xfrm>
            <a:off x="1104900" y="7530405"/>
            <a:ext cx="167640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本研究 DD-LSTM </a:t>
            </a: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Proposed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2971800" y="7530405"/>
            <a:ext cx="1994074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64" name="Text 62"/>
          <p:cNvSpPr/>
          <p:nvPr/>
        </p:nvSpPr>
        <p:spPr>
          <a:xfrm>
            <a:off x="5194474" y="7530405"/>
            <a:ext cx="1196578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65" name="Text 63"/>
          <p:cNvSpPr/>
          <p:nvPr/>
        </p:nvSpPr>
        <p:spPr>
          <a:xfrm>
            <a:off x="6619652" y="7530405"/>
            <a:ext cx="1196578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66" name="Text 64"/>
          <p:cNvSpPr/>
          <p:nvPr/>
        </p:nvSpPr>
        <p:spPr>
          <a:xfrm>
            <a:off x="8044830" y="7530405"/>
            <a:ext cx="16241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67" name="Text 65"/>
          <p:cNvSpPr/>
          <p:nvPr/>
        </p:nvSpPr>
        <p:spPr>
          <a:xfrm>
            <a:off x="9897591" y="7530405"/>
            <a:ext cx="1196578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950" dirty="0"/>
          </a:p>
        </p:txBody>
      </p:sp>
      <p:sp>
        <p:nvSpPr>
          <p:cNvPr id="68" name="Text 66"/>
          <p:cNvSpPr/>
          <p:nvPr/>
        </p:nvSpPr>
        <p:spPr>
          <a:xfrm>
            <a:off x="11322769" y="7530405"/>
            <a:ext cx="219261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13743980" y="7530405"/>
            <a:ext cx="205174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70" name="Text 68"/>
          <p:cNvSpPr/>
          <p:nvPr/>
        </p:nvSpPr>
        <p:spPr>
          <a:xfrm>
            <a:off x="16024324" y="7530405"/>
            <a:ext cx="119687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71" name="Text 69"/>
          <p:cNvSpPr/>
          <p:nvPr/>
        </p:nvSpPr>
        <p:spPr>
          <a:xfrm>
            <a:off x="952500" y="9572625"/>
            <a:ext cx="1219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完整支援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2400598" y="9572625"/>
            <a:ext cx="12827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 </a:t>
            </a: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部分支援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3911947" y="9572625"/>
            <a:ext cx="10123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</a:t>
            </a: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不支援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7800" y="3007519"/>
            <a:ext cx="334194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0" b="1" kern="0" spc="-600" dirty="0">
                <a:solidFill>
                  <a:srgbClr val="FFFFFF">
                    <a:alpha val="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524000" y="5103019"/>
            <a:ext cx="326345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DESIGN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524000" y="5603081"/>
            <a:ext cx="3263454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系統架構 規格書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046913" y="4381500"/>
            <a:ext cx="28575" cy="1524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4414838"/>
            <a:ext cx="549402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2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詳述系統的各項組成元件、它們的功能與相互關係，並以架構圖與資料流呈現完整的 End-to-End 實作規格。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676275"/>
            <a:ext cx="7381516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9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系統架構 System Architecture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524000" y="1373832"/>
            <a:ext cx="15697200" cy="33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四層式端對端預測管線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28827" y="2244030"/>
            <a:ext cx="199124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144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DATA SOURCES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76737" y="3139380"/>
            <a:ext cx="2095500" cy="1576388"/>
          </a:xfrm>
          <a:prstGeom prst="roundRect">
            <a:avLst>
              <a:gd name="adj" fmla="val 9668"/>
            </a:avLst>
          </a:prstGeom>
          <a:solidFill>
            <a:srgbClr val="F7F6F2"/>
          </a:solidFill>
          <a:ln w="19050">
            <a:solidFill>
              <a:srgbClr val="DD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4387" y="3387030"/>
            <a:ext cx="16002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TDX 即時 API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024387" y="3801368"/>
            <a:ext cx="1600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停車位即時數量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776737" y="4849118"/>
            <a:ext cx="2095500" cy="1933575"/>
          </a:xfrm>
          <a:prstGeom prst="roundRect">
            <a:avLst>
              <a:gd name="adj" fmla="val 7882"/>
            </a:avLst>
          </a:prstGeom>
          <a:solidFill>
            <a:srgbClr val="F7F6F2"/>
          </a:solidFill>
          <a:ln w="19050">
            <a:solidFill>
              <a:srgbClr val="DD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4387" y="5096768"/>
            <a:ext cx="1600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TDX 歷史資料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024387" y="5868293"/>
            <a:ext cx="1600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停車場歷史紀錄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76737" y="6916043"/>
            <a:ext cx="2095500" cy="1576388"/>
          </a:xfrm>
          <a:prstGeom prst="roundRect">
            <a:avLst>
              <a:gd name="adj" fmla="val 9668"/>
            </a:avLst>
          </a:prstGeom>
          <a:solidFill>
            <a:srgbClr val="F7F6F2"/>
          </a:solidFill>
          <a:ln w="19050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4387" y="7163693"/>
            <a:ext cx="16002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氣象局 API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024387" y="7578030"/>
            <a:ext cx="1600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溫度、降雨、UV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76737" y="8625780"/>
            <a:ext cx="2095500" cy="1576388"/>
          </a:xfrm>
          <a:prstGeom prst="roundRect">
            <a:avLst>
              <a:gd name="adj" fmla="val 9668"/>
            </a:avLst>
          </a:prstGeom>
          <a:solidFill>
            <a:srgbClr val="F7F6F2"/>
          </a:solidFill>
          <a:ln w="19050">
            <a:solidFill>
              <a:srgbClr val="DD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4387" y="8873430"/>
            <a:ext cx="16002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節假日日曆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024387" y="9287768"/>
            <a:ext cx="1600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國定假日、連假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62737" y="6004024"/>
            <a:ext cx="457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96137" y="2422624"/>
            <a:ext cx="222803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800" b="1" kern="0" spc="144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PREPROCESSING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662365" y="3317974"/>
            <a:ext cx="2095500" cy="1576388"/>
          </a:xfrm>
          <a:prstGeom prst="roundRect">
            <a:avLst>
              <a:gd name="adj" fmla="val 9668"/>
            </a:avLst>
          </a:prstGeom>
          <a:solidFill>
            <a:srgbClr val="F7F6F2"/>
          </a:solidFill>
          <a:ln w="19050">
            <a:solidFill>
              <a:srgbClr val="DD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10015" y="3565624"/>
            <a:ext cx="16002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資料清洗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910015" y="3979962"/>
            <a:ext cx="1600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缺值處理 / 去雜訊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662365" y="5027712"/>
            <a:ext cx="2095500" cy="1576388"/>
          </a:xfrm>
          <a:prstGeom prst="roundRect">
            <a:avLst>
              <a:gd name="adj" fmla="val 9668"/>
            </a:avLst>
          </a:prstGeom>
          <a:solidFill>
            <a:srgbClr val="F7F6F2"/>
          </a:solidFill>
          <a:ln w="19050">
            <a:solidFill>
              <a:srgbClr val="DD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10015" y="5275362"/>
            <a:ext cx="16002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特徵工程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6910015" y="5689699"/>
            <a:ext cx="1600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時段、星期、週期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662365" y="6737449"/>
            <a:ext cx="2095500" cy="1576388"/>
          </a:xfrm>
          <a:prstGeom prst="roundRect">
            <a:avLst>
              <a:gd name="adj" fmla="val 9668"/>
            </a:avLst>
          </a:prstGeom>
          <a:solidFill>
            <a:srgbClr val="F7F6F2"/>
          </a:solidFill>
          <a:ln w="19050">
            <a:solidFill>
              <a:srgbClr val="DD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10015" y="6985099"/>
            <a:ext cx="16002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正規化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910015" y="7399437"/>
            <a:ext cx="1600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Min-Max Scaling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662365" y="8447187"/>
            <a:ext cx="2095500" cy="1576388"/>
          </a:xfrm>
          <a:prstGeom prst="roundRect">
            <a:avLst>
              <a:gd name="adj" fmla="val 9668"/>
            </a:avLst>
          </a:prstGeom>
          <a:solidFill>
            <a:srgbClr val="F7F6F2"/>
          </a:solidFill>
          <a:ln w="19050">
            <a:solidFill>
              <a:srgbClr val="DD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10015" y="8694837"/>
            <a:ext cx="16002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滑動視窗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6910015" y="9109174"/>
            <a:ext cx="1600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建構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976568" y="6004024"/>
            <a:ext cx="457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509968" y="2732187"/>
            <a:ext cx="218189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144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DD-LSTM MODEL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553129" y="3627537"/>
            <a:ext cx="2095500" cy="1243013"/>
          </a:xfrm>
          <a:prstGeom prst="roundRect">
            <a:avLst>
              <a:gd name="adj" fmla="val 12261"/>
            </a:avLst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00779" y="3875187"/>
            <a:ext cx="16002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Layer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9800779" y="4289524"/>
            <a:ext cx="1600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多特徵序列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553129" y="5003899"/>
            <a:ext cx="2095500" cy="1600200"/>
          </a:xfrm>
          <a:prstGeom prst="roundRect">
            <a:avLst>
              <a:gd name="adj" fmla="val 9524"/>
            </a:avLst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00779" y="5251549"/>
            <a:ext cx="1600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Layer ×2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9800779" y="6023074"/>
            <a:ext cx="1600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時序依賴學習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553129" y="6737449"/>
            <a:ext cx="2095500" cy="1243013"/>
          </a:xfrm>
          <a:prstGeom prst="roundRect">
            <a:avLst>
              <a:gd name="adj" fmla="val 12261"/>
            </a:avLst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00779" y="6985099"/>
            <a:ext cx="16002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Layer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9800779" y="7399437"/>
            <a:ext cx="1600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特徵壓縮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553129" y="8113812"/>
            <a:ext cx="2095500" cy="1600200"/>
          </a:xfrm>
          <a:prstGeom prst="roundRect">
            <a:avLst>
              <a:gd name="adj" fmla="val 9524"/>
            </a:avLst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00779" y="8361462"/>
            <a:ext cx="1600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9800779" y="9132987"/>
            <a:ext cx="1600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預測車位率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1844263" y="6004024"/>
            <a:ext cx="457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12892385" y="3089374"/>
            <a:ext cx="114218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800" b="1" kern="0" spc="144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 OUTPUT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2415763" y="3984724"/>
            <a:ext cx="2095500" cy="1243013"/>
          </a:xfrm>
          <a:prstGeom prst="roundRect">
            <a:avLst>
              <a:gd name="adj" fmla="val 12261"/>
            </a:avLst>
          </a:prstGeom>
          <a:solidFill>
            <a:srgbClr val="F7F6F2"/>
          </a:solidFill>
          <a:ln w="19050">
            <a:solidFill>
              <a:srgbClr val="DDE3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663413" y="4232374"/>
            <a:ext cx="16002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30分鐘預測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12663413" y="4646712"/>
            <a:ext cx="1600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可用率 (%)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2415763" y="5361087"/>
            <a:ext cx="2095500" cy="1243013"/>
          </a:xfrm>
          <a:prstGeom prst="roundRect">
            <a:avLst>
              <a:gd name="adj" fmla="val 12261"/>
            </a:avLst>
          </a:prstGeom>
          <a:solidFill>
            <a:srgbClr val="F7F6F2"/>
          </a:solidFill>
          <a:ln w="19050">
            <a:solidFill>
              <a:srgbClr val="DDE3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663413" y="5608737"/>
            <a:ext cx="16002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60分鐘預測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12663413" y="6023074"/>
            <a:ext cx="1600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可用率 (%)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2415763" y="6737449"/>
            <a:ext cx="2095500" cy="1243013"/>
          </a:xfrm>
          <a:prstGeom prst="roundRect">
            <a:avLst>
              <a:gd name="adj" fmla="val 12261"/>
            </a:avLst>
          </a:prstGeom>
          <a:solidFill>
            <a:srgbClr val="F7F6F2"/>
          </a:solidFill>
          <a:ln w="19050">
            <a:solidFill>
              <a:srgbClr val="DDE3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663413" y="6985099"/>
            <a:ext cx="16002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視覺化報表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12663413" y="7399437"/>
            <a:ext cx="1600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趨勢圖 / 熱圖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2415763" y="8113812"/>
            <a:ext cx="2095500" cy="1243013"/>
          </a:xfrm>
          <a:prstGeom prst="roundRect">
            <a:avLst>
              <a:gd name="adj" fmla="val 12261"/>
            </a:avLst>
          </a:prstGeom>
          <a:solidFill>
            <a:srgbClr val="F7F6F2"/>
          </a:solidFill>
          <a:ln w="19050">
            <a:solidFill>
              <a:srgbClr val="DDE3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663413" y="8361462"/>
            <a:ext cx="16002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警示通知</a:t>
            </a:r>
            <a:endParaRPr lang="en-US" sz="1950" dirty="0"/>
          </a:p>
        </p:txBody>
      </p:sp>
      <p:sp>
        <p:nvSpPr>
          <p:cNvPr id="58" name="Text 56"/>
          <p:cNvSpPr/>
          <p:nvPr/>
        </p:nvSpPr>
        <p:spPr>
          <a:xfrm>
            <a:off x="12663413" y="8775799"/>
            <a:ext cx="1600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滿位預警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676275"/>
            <a:ext cx="4201684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9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資料流 Data Flow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524000" y="1373832"/>
            <a:ext cx="10988040" cy="315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元件互動與處理管線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524000" y="2548905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2548905"/>
            <a:ext cx="7429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533650" y="2222674"/>
            <a:ext cx="994810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資料擷取 Data Ingestion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533650" y="2717974"/>
            <a:ext cx="994810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排程器每 5 分鐘呼叫 TDX API，同步拉取即時停車剩餘數量，儲存至 Time-Series DB。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2533650" y="3184699"/>
            <a:ext cx="1869504" cy="357188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5575" y="3232324"/>
            <a:ext cx="162185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TDX REST API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98404" y="3184699"/>
            <a:ext cx="1251421" cy="357188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0329" y="3232324"/>
            <a:ext cx="10037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Job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45076" y="3184699"/>
            <a:ext cx="1187797" cy="357188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07001" y="3232324"/>
            <a:ext cx="94014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InfluxDB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24000" y="4511055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1485900" y="4511055"/>
            <a:ext cx="7429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2533650" y="3999086"/>
            <a:ext cx="994810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特徵融合 Feature Fusion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533650" y="4494386"/>
            <a:ext cx="994810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即時資料與歷史、天氣、節假日特徵合併，透過滑動視窗（Window Size=24）建構 LSTM 輸入序列。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2533650" y="5332586"/>
            <a:ext cx="1099170" cy="357188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5575" y="5380211"/>
            <a:ext cx="8515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728070" y="5332586"/>
            <a:ext cx="1886694" cy="357188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9995" y="5380211"/>
            <a:ext cx="163904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710014" y="5332586"/>
            <a:ext cx="1200224" cy="357188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71939" y="5380211"/>
            <a:ext cx="95257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Min-Max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24000" y="6473205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1B2B3A"/>
          </a:solidFill>
          <a:ln/>
        </p:spPr>
      </p:sp>
      <p:sp>
        <p:nvSpPr>
          <p:cNvPr id="25" name="Text 23"/>
          <p:cNvSpPr/>
          <p:nvPr/>
        </p:nvSpPr>
        <p:spPr>
          <a:xfrm>
            <a:off x="1485900" y="6473205"/>
            <a:ext cx="7429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2533650" y="6146974"/>
            <a:ext cx="994810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模型推論 Model Inference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533650" y="6642274"/>
            <a:ext cx="994810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訓練完畢的 DD-LSTM 模型接收特徵序列，輸出未來 30/60 分鐘之停車位可用率預測值。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2533650" y="7108999"/>
            <a:ext cx="1615306" cy="357188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5575" y="7156624"/>
            <a:ext cx="136765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/ TF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244206" y="7108999"/>
            <a:ext cx="1257672" cy="357188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06131" y="7156624"/>
            <a:ext cx="101002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×2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597128" y="7108999"/>
            <a:ext cx="1518419" cy="357188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59053" y="7156624"/>
            <a:ext cx="127076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0.2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24000" y="8435355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1485900" y="8435355"/>
            <a:ext cx="7429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2533650" y="7923386"/>
            <a:ext cx="994810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輸出呈現 Result Output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2533650" y="8418686"/>
            <a:ext cx="994810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預測結果寫入資料庫，前端 Dashboard 即時顯示趨勢圖，並於可用率低於閾值時觸發警示。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2533650" y="9256886"/>
            <a:ext cx="1348755" cy="357188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5575" y="9304511"/>
            <a:ext cx="110110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977655" y="9256886"/>
            <a:ext cx="1442219" cy="357188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39580" y="9304511"/>
            <a:ext cx="119456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515124" y="9256886"/>
            <a:ext cx="1619548" cy="357188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77049" y="9304511"/>
            <a:ext cx="137189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System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2763500" y="1905000"/>
            <a:ext cx="4000500" cy="7620000"/>
          </a:xfrm>
          <a:prstGeom prst="roundRect">
            <a:avLst>
              <a:gd name="adj" fmla="val 4762"/>
            </a:avLst>
          </a:prstGeom>
          <a:solidFill>
            <a:srgbClr val="F7F6F2"/>
          </a:solidFill>
          <a:ln w="14288">
            <a:solidFill>
              <a:srgbClr val="DDE3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082588" y="2262188"/>
            <a:ext cx="346319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關鍵元件功能摘要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13082588" y="3567113"/>
            <a:ext cx="3362325" cy="9525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47" name="Text 45"/>
          <p:cNvSpPr/>
          <p:nvPr/>
        </p:nvSpPr>
        <p:spPr>
          <a:xfrm>
            <a:off x="13082588" y="3074194"/>
            <a:ext cx="9182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TDX API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4844713" y="3048000"/>
            <a:ext cx="16764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即時資料來源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13082588" y="4381500"/>
            <a:ext cx="3362325" cy="9525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50" name="Text 48"/>
          <p:cNvSpPr/>
          <p:nvPr/>
        </p:nvSpPr>
        <p:spPr>
          <a:xfrm>
            <a:off x="13082588" y="3888581"/>
            <a:ext cx="101076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InfluxDB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4844713" y="3862387"/>
            <a:ext cx="16764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時序資料儲存</a:t>
            </a:r>
            <a:endParaRPr lang="en-US" sz="2100" dirty="0"/>
          </a:p>
        </p:txBody>
      </p:sp>
      <p:sp>
        <p:nvSpPr>
          <p:cNvPr id="52" name="Shape 50"/>
          <p:cNvSpPr/>
          <p:nvPr/>
        </p:nvSpPr>
        <p:spPr>
          <a:xfrm>
            <a:off x="13082588" y="5195888"/>
            <a:ext cx="3362325" cy="9525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53" name="Text 51"/>
          <p:cNvSpPr/>
          <p:nvPr/>
        </p:nvSpPr>
        <p:spPr>
          <a:xfrm>
            <a:off x="13082588" y="4702969"/>
            <a:ext cx="176993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4844713" y="4676775"/>
            <a:ext cx="16764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序列特徵建構</a:t>
            </a:r>
            <a:endParaRPr lang="en-US" sz="2100" dirty="0"/>
          </a:p>
        </p:txBody>
      </p:sp>
      <p:sp>
        <p:nvSpPr>
          <p:cNvPr id="55" name="Shape 53"/>
          <p:cNvSpPr/>
          <p:nvPr/>
        </p:nvSpPr>
        <p:spPr>
          <a:xfrm>
            <a:off x="13082588" y="6010275"/>
            <a:ext cx="3362325" cy="9525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56" name="Text 54"/>
          <p:cNvSpPr/>
          <p:nvPr/>
        </p:nvSpPr>
        <p:spPr>
          <a:xfrm>
            <a:off x="13082588" y="5517356"/>
            <a:ext cx="10601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DD-LSTM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4844713" y="5491163"/>
            <a:ext cx="16764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核心預測模型</a:t>
            </a:r>
            <a:endParaRPr lang="en-US" sz="2100" dirty="0"/>
          </a:p>
        </p:txBody>
      </p:sp>
      <p:sp>
        <p:nvSpPr>
          <p:cNvPr id="58" name="Shape 56"/>
          <p:cNvSpPr/>
          <p:nvPr/>
        </p:nvSpPr>
        <p:spPr>
          <a:xfrm>
            <a:off x="13082588" y="6824663"/>
            <a:ext cx="3362325" cy="9525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59" name="Text 57"/>
          <p:cNvSpPr/>
          <p:nvPr/>
        </p:nvSpPr>
        <p:spPr>
          <a:xfrm>
            <a:off x="13082588" y="6331744"/>
            <a:ext cx="14012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Engine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4844713" y="6305550"/>
            <a:ext cx="16764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滿位預警觸發</a:t>
            </a:r>
            <a:endParaRPr lang="en-US" sz="2100" dirty="0"/>
          </a:p>
        </p:txBody>
      </p:sp>
      <p:sp>
        <p:nvSpPr>
          <p:cNvPr id="61" name="Text 59"/>
          <p:cNvSpPr/>
          <p:nvPr/>
        </p:nvSpPr>
        <p:spPr>
          <a:xfrm>
            <a:off x="13082588" y="7146131"/>
            <a:ext cx="12644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5111413" y="7119938"/>
            <a:ext cx="14097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結果視覺化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2306985"/>
            <a:ext cx="156972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 · 核心貢獻再強調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524000" y="3007072"/>
            <a:ext cx="15697200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一套完整的、</a:t>
            </a:r>
            <a:r>
              <a:rPr lang="en-US" sz="5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可即時部署 </a:t>
            </a: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 政府開放資料停車位預測系統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524000" y="5049143"/>
            <a:ext cx="4902175" cy="2930798"/>
          </a:xfrm>
          <a:prstGeom prst="roundRect">
            <a:avLst>
              <a:gd name="adj" fmla="val 65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38325" y="540156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563EB">
              <a:alpha val="40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25" y="5515868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38325" y="6049268"/>
            <a:ext cx="440173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TDX API 端對端整合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838325" y="6530280"/>
            <a:ext cx="4401731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首次將政府開放平台即時 API 完整導入停車位預測管線，實現自動化資料擷取，零人工干預。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692875" y="5049143"/>
            <a:ext cx="4902175" cy="2930798"/>
          </a:xfrm>
          <a:prstGeom prst="roundRect">
            <a:avLst>
              <a:gd name="adj" fmla="val 65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07200" y="540156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563EB">
              <a:alpha val="40000"/>
            </a:srgbClr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1500" y="551586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07200" y="6049268"/>
            <a:ext cx="440173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多特徵融合框架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7007200" y="6530280"/>
            <a:ext cx="4401731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結合歷史時序、天氣狀況、節假日資訊，DD-LSTM 模型在複雜場景下仍能穩定預測，超越現有 Baseline。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1861750" y="5049143"/>
            <a:ext cx="4902250" cy="2930798"/>
          </a:xfrm>
          <a:prstGeom prst="roundRect">
            <a:avLst>
              <a:gd name="adj" fmla="val 65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2176075" y="540156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563EB">
              <a:alpha val="40000"/>
            </a:srgbClr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0375" y="551586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176075" y="6049268"/>
            <a:ext cx="440180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可擴充開放架構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12176075" y="6530280"/>
            <a:ext cx="4401808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系統模組化設計，可快速擴展至全台其他縣市停車場，亦可作為其他交通預測任務的通用框架。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1018</Words>
  <Application>Microsoft Office PowerPoint</Application>
  <PresentationFormat>自訂</PresentationFormat>
  <Paragraphs>324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roy chu</cp:lastModifiedBy>
  <cp:revision>2</cp:revision>
  <dcterms:created xsi:type="dcterms:W3CDTF">2026-04-19T15:04:55Z</dcterms:created>
  <dcterms:modified xsi:type="dcterms:W3CDTF">2026-04-20T06:26:52Z</dcterms:modified>
</cp:coreProperties>
</file>